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3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2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45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imselwelt.ch/en/experiences/hike-to-the-suspention-bridge-triftbrueck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3533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· DAY TRIP · HIKE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92061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Triftbrücke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Zurich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95781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Self-guided alpine day trip from Zurich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44468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38816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3744468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38816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- October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744468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0440" y="38816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m bridge</a:t>
            </a:r>
            <a:endParaRPr lang="en-US" sz="13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D1151E8E-E9A6-F8D2-5AB6-25487E98D247}"/>
              </a:ext>
            </a:extLst>
          </p:cNvPr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D0EE6A-F28D-4A5D-36B4-D25EA81D1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202575" y="1471790"/>
            <a:ext cx="3497118" cy="2622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5364126" cy="215851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40080" y="1124713"/>
            <a:ext cx="504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DETAILS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99033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731520" y="14356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11302" y="14356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627633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731520" y="16642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1302" y="16642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~3-4 h total (with gondola)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856233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731520" y="18928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11302" y="18928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1,720 m (bridge level)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3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731520" y="21214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(GONDOLA)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11302" y="21214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m / ~6 km roundtrip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313433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31520" y="23500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(FULL HIKE)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11302" y="23500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m / ~15 km roundtrip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542033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731520" y="25786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SEASON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11302" y="25786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</a:t>
            </a: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October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775205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731520" y="2807209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11302" y="2807209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m suspension bridge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10074"/>
            <a:ext cx="5364126" cy="1217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40080" y="3347234"/>
            <a:ext cx="504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621554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900"/>
          </a:p>
        </p:txBody>
      </p:sp>
      <p:sp>
        <p:nvSpPr>
          <p:cNvPr id="31" name="Text 29"/>
          <p:cNvSpPr/>
          <p:nvPr/>
        </p:nvSpPr>
        <p:spPr>
          <a:xfrm>
            <a:off x="731520" y="3658130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BY CAR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11302" y="3658130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Zürich → Triftbahn (~2 h, recommended)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3850154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900"/>
          </a:p>
        </p:txBody>
      </p:sp>
      <p:sp>
        <p:nvSpPr>
          <p:cNvPr id="34" name="Text 32"/>
          <p:cNvSpPr/>
          <p:nvPr/>
        </p:nvSpPr>
        <p:spPr>
          <a:xfrm>
            <a:off x="731520" y="3886730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BY PUBLIC TRANSPORT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11302" y="3886730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Zürich HB → Triftbahn (~3.5 h, several changes)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078754"/>
            <a:ext cx="504000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900"/>
          </a:p>
        </p:txBody>
      </p:sp>
      <p:sp>
        <p:nvSpPr>
          <p:cNvPr id="37" name="Text 35"/>
          <p:cNvSpPr/>
          <p:nvPr/>
        </p:nvSpPr>
        <p:spPr>
          <a:xfrm>
            <a:off x="731520" y="4115330"/>
            <a:ext cx="2016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GONDOLA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11302" y="4115330"/>
            <a:ext cx="306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Available, from Triftbahn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518731"/>
            <a:ext cx="8229600" cy="320040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594360" y="4582739"/>
            <a:ext cx="7955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 suitable if you have a fear of heights or exposed bridge crossings.</a:t>
            </a:r>
            <a:endParaRPr lang="en-US" sz="1000" dirty="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C8BB22DA-55B0-D295-DE3E-FA282F4A9816}"/>
              </a:ext>
            </a:extLst>
          </p:cNvPr>
          <p:cNvSpPr/>
          <p:nvPr/>
        </p:nvSpPr>
        <p:spPr>
          <a:xfrm>
            <a:off x="5912766" y="987552"/>
            <a:ext cx="2774034" cy="343973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C57E3CDB-2E89-000D-69EA-2EC16E627014}"/>
              </a:ext>
            </a:extLst>
          </p:cNvPr>
          <p:cNvSpPr/>
          <p:nvPr/>
        </p:nvSpPr>
        <p:spPr>
          <a:xfrm>
            <a:off x="6004206" y="1124713"/>
            <a:ext cx="252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GO</a:t>
            </a:r>
            <a:endParaRPr lang="en-US" sz="1200" dirty="0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155376CE-3702-8FF6-8B9D-AF54D25D47D4}"/>
              </a:ext>
            </a:extLst>
          </p:cNvPr>
          <p:cNvSpPr/>
          <p:nvPr/>
        </p:nvSpPr>
        <p:spPr>
          <a:xfrm>
            <a:off x="6029640" y="1399032"/>
            <a:ext cx="2520000" cy="2890033"/>
          </a:xfrm>
          <a:prstGeom prst="rect">
            <a:avLst/>
          </a:prstGeom>
          <a:solidFill>
            <a:srgbClr val="F8F6F3"/>
          </a:solidFill>
          <a:ln/>
        </p:spPr>
        <p:txBody>
          <a:bodyPr anchor="ctr"/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Book </a:t>
            </a:r>
            <a:r>
              <a:rPr lang="en-US" sz="1100" dirty="0" err="1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 gondola slots (roundtrip) a few weeks in advance – they sell out quick on weekends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Bring all food and water – no shops and restaurant not always open</a:t>
            </a:r>
            <a:endParaRPr lang="en-US" sz="11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Leave Zürich before 08:00 to catch optimal connections and avoid bridge crowds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start (leaving after 10:00 from </a:t>
            </a:r>
            <a:r>
              <a:rPr lang="en-US" sz="1100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Zürich)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risks return timing</a:t>
            </a:r>
            <a:endParaRPr lang="en-US" sz="11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1100" dirty="0" err="1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MeteoSwiss</a:t>
            </a: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 forecast – if &gt;30% storm after 13:00, postpone</a:t>
            </a:r>
            <a:endParaRPr lang="en-US" sz="11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Hiking boots required - trail is rocky, descent is steep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icy before June / after October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trip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3960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20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TRIP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859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suspension bridge hike near Zürich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516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glacier landscape without overnight stay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174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remote but fits into one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5831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skills required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60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200"/>
          </a:p>
        </p:txBody>
      </p:sp>
      <p:sp>
        <p:nvSpPr>
          <p:cNvPr id="16" name="Text 14"/>
          <p:cNvSpPr/>
          <p:nvPr/>
        </p:nvSpPr>
        <p:spPr>
          <a:xfrm>
            <a:off x="640080" y="317296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5158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472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Zurich for 1-2 days or more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788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810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walking uphill for 2-3 hours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2473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178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independent travel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6131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544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clear step-by-step logistics, not inspiration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79981" y="987552"/>
            <a:ext cx="3960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200"/>
          </a:p>
        </p:txBody>
      </p:sp>
      <p:sp>
        <p:nvSpPr>
          <p:cNvPr id="26" name="Text 24"/>
          <p:cNvSpPr/>
          <p:nvPr/>
        </p:nvSpPr>
        <p:spPr>
          <a:xfrm>
            <a:off x="4811215" y="112471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AT A GLANCE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7140" y="1467612"/>
            <a:ext cx="18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91460" y="14218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Steepness: consistent uphill ~1.5 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7140" y="1787652"/>
            <a:ext cx="18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1460" y="17419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Exposure: suspension bridge only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17140" y="2107692"/>
            <a:ext cx="18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91460" y="20619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Trail: marked alpine hiking path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7140" y="2427732"/>
            <a:ext cx="18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91460" y="23820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Fitness: ~450 m ascent / ~6 km</a:t>
            </a:r>
            <a:endParaRPr lang="en-US" sz="1200" dirty="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C90A991A-5B46-7DCA-1D9F-8C1FC61C4EF3}"/>
              </a:ext>
            </a:extLst>
          </p:cNvPr>
          <p:cNvSpPr/>
          <p:nvPr/>
        </p:nvSpPr>
        <p:spPr>
          <a:xfrm>
            <a:off x="4679981" y="3012948"/>
            <a:ext cx="3960000" cy="1920240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49C0897E-F0A8-ABB2-9CF1-0F67ABA2C20D}"/>
              </a:ext>
            </a:extLst>
          </p:cNvPr>
          <p:cNvSpPr/>
          <p:nvPr/>
        </p:nvSpPr>
        <p:spPr>
          <a:xfrm>
            <a:off x="5091460" y="3511296"/>
            <a:ext cx="36240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fear of heights </a:t>
            </a:r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11281913-C2C4-C9CD-9BB8-55608386C1A1}"/>
              </a:ext>
            </a:extLst>
          </p:cNvPr>
          <p:cNvSpPr/>
          <p:nvPr/>
        </p:nvSpPr>
        <p:spPr>
          <a:xfrm>
            <a:off x="4811215" y="317296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</a:t>
            </a:r>
            <a:endParaRPr lang="en-US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F853EE-8FB7-8B1E-2499-240AFE6E091F}"/>
              </a:ext>
            </a:extLst>
          </p:cNvPr>
          <p:cNvSpPr txBox="1"/>
          <p:nvPr/>
        </p:nvSpPr>
        <p:spPr>
          <a:xfrm>
            <a:off x="4792586" y="3468809"/>
            <a:ext cx="2988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CH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70CC64-EA4A-A1EC-7AA1-163F33626D7B}"/>
              </a:ext>
            </a:extLst>
          </p:cNvPr>
          <p:cNvSpPr txBox="1"/>
          <p:nvPr/>
        </p:nvSpPr>
        <p:spPr>
          <a:xfrm>
            <a:off x="4792586" y="3831817"/>
            <a:ext cx="2988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CH" sz="1200" dirty="0"/>
          </a:p>
        </p:txBody>
      </p:sp>
      <p:sp>
        <p:nvSpPr>
          <p:cNvPr id="74" name="Text 41">
            <a:extLst>
              <a:ext uri="{FF2B5EF4-FFF2-40B4-BE49-F238E27FC236}">
                <a16:creationId xmlns:a16="http://schemas.microsoft.com/office/drawing/2014/main" id="{F4487356-3CE0-D788-50DA-0D8D9D6BD567}"/>
              </a:ext>
            </a:extLst>
          </p:cNvPr>
          <p:cNvSpPr/>
          <p:nvPr/>
        </p:nvSpPr>
        <p:spPr>
          <a:xfrm>
            <a:off x="5091460" y="3874304"/>
            <a:ext cx="36240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fear of exposed bridge crossings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variant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2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16936"/>
              </p:ext>
            </p:extLst>
          </p:nvPr>
        </p:nvGraphicFramePr>
        <p:xfrm>
          <a:off x="548640" y="1143000"/>
          <a:ext cx="8000998" cy="1097280"/>
        </p:xfrm>
        <a:graphic>
          <a:graphicData uri="http://schemas.openxmlformats.org/drawingml/2006/table">
            <a:tbl>
              <a:tblPr/>
              <a:tblGrid>
                <a:gridCol w="359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8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73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Gondola up, gondola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visit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Gondola up, hike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h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hike from Gadmen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h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hikers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200"/>
          </a:p>
        </p:txBody>
      </p:sp>
      <p:sp>
        <p:nvSpPr>
          <p:cNvPr id="8" name="Text 5"/>
          <p:cNvSpPr/>
          <p:nvPr/>
        </p:nvSpPr>
        <p:spPr>
          <a:xfrm>
            <a:off x="594360" y="2633472"/>
            <a:ext cx="7955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Gondola up, gondola 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option. Minimises elevation gain and descent stress on knees. Good for mixed fitness groups or tight time windows.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200"/>
          </a:p>
        </p:txBody>
      </p:sp>
      <p:sp>
        <p:nvSpPr>
          <p:cNvPr id="10" name="Text 7"/>
          <p:cNvSpPr/>
          <p:nvPr/>
        </p:nvSpPr>
        <p:spPr>
          <a:xfrm>
            <a:off x="594360" y="3136392"/>
            <a:ext cx="7955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Gondola up, hike 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balance. Dramatic views on descent. Walk down through the valley at a relaxed pace.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200"/>
          </a:p>
        </p:txBody>
      </p:sp>
      <p:sp>
        <p:nvSpPr>
          <p:cNvPr id="12" name="Text 9"/>
          <p:cNvSpPr/>
          <p:nvPr/>
        </p:nvSpPr>
        <p:spPr>
          <a:xfrm>
            <a:off x="594360" y="3639312"/>
            <a:ext cx="7955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Full hike from Gadmen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strong hikers who want to earn the bridge fully on foot. Adds ~2 h and ~300 m elevation. Do only if you arrive by car.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there from Zurich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89308"/>
            <a:ext cx="8229600" cy="1817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457200" y="889308"/>
            <a:ext cx="8229600" cy="54864"/>
          </a:xfrm>
          <a:prstGeom prst="rect">
            <a:avLst/>
          </a:prstGeom>
          <a:solidFill>
            <a:srgbClr val="2F6B7A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594360" y="10539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300" dirty="0">
                <a:solidFill>
                  <a:srgbClr val="2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– CAR (RECOMMENDED)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346508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9" name="Text 7"/>
          <p:cNvSpPr/>
          <p:nvPr/>
        </p:nvSpPr>
        <p:spPr>
          <a:xfrm>
            <a:off x="685800" y="139222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392228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Zürich → Triftbahn (~2 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611684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2" name="Text 10"/>
          <p:cNvSpPr/>
          <p:nvPr/>
        </p:nvSpPr>
        <p:spPr>
          <a:xfrm>
            <a:off x="685800" y="165740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657404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Meiringen, turn onto Sustenstrasse toward Susten 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1876860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5" name="Text 13"/>
          <p:cNvSpPr/>
          <p:nvPr/>
        </p:nvSpPr>
        <p:spPr>
          <a:xfrm>
            <a:off x="685800" y="192258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1922580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lot at Triftbahn station, just past Gadmen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142036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8" name="Text 16"/>
          <p:cNvSpPr/>
          <p:nvPr/>
        </p:nvSpPr>
        <p:spPr>
          <a:xfrm>
            <a:off x="685800" y="218775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2187756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46°43′15.4″N 8°19′06.0″E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3143198"/>
            <a:ext cx="7955280" cy="201168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4" name="Text 22"/>
          <p:cNvSpPr/>
          <p:nvPr/>
        </p:nvSpPr>
        <p:spPr>
          <a:xfrm>
            <a:off x="685800" y="2452932"/>
            <a:ext cx="7772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gives full timing flexibility - no bus dependency on return. Full hike option: skip gondola and hike from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779563"/>
            <a:ext cx="8229600" cy="18447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26" name="Shape 24"/>
          <p:cNvSpPr/>
          <p:nvPr/>
        </p:nvSpPr>
        <p:spPr>
          <a:xfrm>
            <a:off x="457200" y="2779564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7" name="Text 25"/>
          <p:cNvSpPr/>
          <p:nvPr/>
        </p:nvSpPr>
        <p:spPr>
          <a:xfrm>
            <a:off x="594360" y="2944156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– PUBLIC TRANSPORT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236764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9" name="Text 27"/>
          <p:cNvSpPr/>
          <p:nvPr/>
        </p:nvSpPr>
        <p:spPr>
          <a:xfrm>
            <a:off x="685800" y="328248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3282484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Zürich HB → Luzern → Meiringen → Grimseltor / Innertkirchen (~3 h)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3512608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2" name="Text 30"/>
          <p:cNvSpPr/>
          <p:nvPr/>
        </p:nvSpPr>
        <p:spPr>
          <a:xfrm>
            <a:off x="685800" y="355832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23160" y="3558328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Innertkirchen / Grimseltor → Nessental,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(~15 min)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4064296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5" name="Text 33"/>
          <p:cNvSpPr/>
          <p:nvPr/>
        </p:nvSpPr>
        <p:spPr>
          <a:xfrm>
            <a:off x="685800" y="411001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23160" y="4110016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SBB app: Zürich HB ↔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Nessental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(includes bus)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3788452"/>
            <a:ext cx="795528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8" name="Text 36"/>
          <p:cNvSpPr/>
          <p:nvPr/>
        </p:nvSpPr>
        <p:spPr>
          <a:xfrm>
            <a:off x="685800" y="383417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23160" y="3834172"/>
            <a:ext cx="603504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h each way to gondola station</a:t>
            </a:r>
            <a:endParaRPr lang="en-US" sz="1100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92E53824-6A11-AE7A-4F93-86F707870CED}"/>
              </a:ext>
            </a:extLst>
          </p:cNvPr>
          <p:cNvSpPr/>
          <p:nvPr/>
        </p:nvSpPr>
        <p:spPr>
          <a:xfrm>
            <a:off x="685800" y="4379764"/>
            <a:ext cx="7772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tight unless you maintain a steady hiking pace, with a higher risk of needing to turn around before reaching the bridge</a:t>
            </a:r>
            <a:endParaRPr lang="en-US" sz="11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CF3701FC-930D-0DC1-A9C7-255DF869B750}"/>
              </a:ext>
            </a:extLst>
          </p:cNvPr>
          <p:cNvSpPr/>
          <p:nvPr/>
        </p:nvSpPr>
        <p:spPr>
          <a:xfrm>
            <a:off x="457200" y="4688644"/>
            <a:ext cx="8229600" cy="320040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79678C4E-79B8-70F2-F107-C3237A516CDE}"/>
              </a:ext>
            </a:extLst>
          </p:cNvPr>
          <p:cNvSpPr/>
          <p:nvPr/>
        </p:nvSpPr>
        <p:spPr>
          <a:xfrm>
            <a:off x="594360" y="4752652"/>
            <a:ext cx="7955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GB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train/bus tickets several weeks in advance – Saver fares are often significantly cheaper</a:t>
            </a:r>
            <a:endParaRPr lang="en-US" sz="1000" b="1" dirty="0">
              <a:solidFill>
                <a:srgbClr val="85300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3">
            <a:extLst>
              <a:ext uri="{FF2B5EF4-FFF2-40B4-BE49-F238E27FC236}">
                <a16:creationId xmlns:a16="http://schemas.microsoft.com/office/drawing/2014/main" id="{1DA142CD-F63B-6211-F309-23E77CA050C6}"/>
              </a:ext>
            </a:extLst>
          </p:cNvPr>
          <p:cNvSpPr/>
          <p:nvPr/>
        </p:nvSpPr>
        <p:spPr>
          <a:xfrm>
            <a:off x="5212080" y="2985010"/>
            <a:ext cx="3474720" cy="140028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Gondola schedule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1"/>
            <a:ext cx="4572000" cy="1915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 – OPERATING TIMES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ASCENT 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DESCENT 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2011680" cy="22860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600200"/>
            <a:ext cx="2011680" cy="22860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2" name="Text 10"/>
          <p:cNvSpPr/>
          <p:nvPr/>
        </p:nvSpPr>
        <p:spPr>
          <a:xfrm>
            <a:off x="2926080" y="16459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856232"/>
            <a:ext cx="2011680" cy="22860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4" name="Text 12"/>
          <p:cNvSpPr/>
          <p:nvPr/>
        </p:nvSpPr>
        <p:spPr>
          <a:xfrm>
            <a:off x="731520" y="19019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856232"/>
            <a:ext cx="2011680" cy="22860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6" name="Text 14"/>
          <p:cNvSpPr/>
          <p:nvPr/>
        </p:nvSpPr>
        <p:spPr>
          <a:xfrm>
            <a:off x="2926080" y="19019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114973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114973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343573"/>
            <a:ext cx="2011680" cy="22860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4" name="Text 22"/>
          <p:cNvSpPr/>
          <p:nvPr/>
        </p:nvSpPr>
        <p:spPr>
          <a:xfrm>
            <a:off x="731520" y="2389293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2343573"/>
            <a:ext cx="2011680" cy="228600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6" name="Text 24"/>
          <p:cNvSpPr/>
          <p:nvPr/>
        </p:nvSpPr>
        <p:spPr>
          <a:xfrm>
            <a:off x="2926080" y="2389293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2599605"/>
            <a:ext cx="2011680" cy="2304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8" name="Text 26"/>
          <p:cNvSpPr/>
          <p:nvPr/>
        </p:nvSpPr>
        <p:spPr>
          <a:xfrm>
            <a:off x="731520" y="2641653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 – Last ascent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2599605"/>
            <a:ext cx="2011680" cy="2304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0" name="Text 28"/>
          <p:cNvSpPr/>
          <p:nvPr/>
        </p:nvSpPr>
        <p:spPr>
          <a:xfrm>
            <a:off x="2926080" y="2641653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 – Last descent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0" y="1005840"/>
            <a:ext cx="3474720" cy="1915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32" name="Text 30"/>
          <p:cNvSpPr/>
          <p:nvPr/>
        </p:nvSpPr>
        <p:spPr>
          <a:xfrm>
            <a:off x="5394960" y="11430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94960" y="1371600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4" name="Text 32"/>
          <p:cNvSpPr/>
          <p:nvPr/>
        </p:nvSpPr>
        <p:spPr>
          <a:xfrm>
            <a:off x="5486400" y="140817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1408176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people per cabin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1600200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7" name="Text 35"/>
          <p:cNvSpPr/>
          <p:nvPr/>
        </p:nvSpPr>
        <p:spPr>
          <a:xfrm>
            <a:off x="5486400" y="163677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1636776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minutes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1828800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0" name="Text 38"/>
          <p:cNvSpPr/>
          <p:nvPr/>
        </p:nvSpPr>
        <p:spPr>
          <a:xfrm>
            <a:off x="5486400" y="186537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1865376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30 / adult return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94960" y="2057400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3" name="Text 41"/>
          <p:cNvSpPr/>
          <p:nvPr/>
        </p:nvSpPr>
        <p:spPr>
          <a:xfrm>
            <a:off x="5486400" y="209397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PASS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3720" y="2093976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94960" y="2286000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6" name="Text 44"/>
          <p:cNvSpPr/>
          <p:nvPr/>
        </p:nvSpPr>
        <p:spPr>
          <a:xfrm>
            <a:off x="5486400" y="232257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03720" y="2322576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 advance</a:t>
            </a:r>
            <a:endParaRPr lang="en-US" sz="1100" dirty="0"/>
          </a:p>
        </p:txBody>
      </p:sp>
      <p:sp>
        <p:nvSpPr>
          <p:cNvPr id="52" name="Shape 40">
            <a:extLst>
              <a:ext uri="{FF2B5EF4-FFF2-40B4-BE49-F238E27FC236}">
                <a16:creationId xmlns:a16="http://schemas.microsoft.com/office/drawing/2014/main" id="{B474E040-4747-246C-4010-AD7946AD59B9}"/>
              </a:ext>
            </a:extLst>
          </p:cNvPr>
          <p:cNvSpPr/>
          <p:nvPr/>
        </p:nvSpPr>
        <p:spPr>
          <a:xfrm>
            <a:off x="457200" y="4518731"/>
            <a:ext cx="8229600" cy="320040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CD91F555-E8D5-71B9-7F3E-2EC18E736262}"/>
              </a:ext>
            </a:extLst>
          </p:cNvPr>
          <p:cNvSpPr/>
          <p:nvPr/>
        </p:nvSpPr>
        <p:spPr>
          <a:xfrm>
            <a:off x="594360" y="4582739"/>
            <a:ext cx="7955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Don't miss the last gondola – book your return slot when purchasing. Allow buffer time for the descent</a:t>
            </a:r>
            <a:endParaRPr lang="en-US" sz="1000" dirty="0"/>
          </a:p>
        </p:txBody>
      </p:sp>
      <p:sp>
        <p:nvSpPr>
          <p:cNvPr id="54" name="Shape 43">
            <a:extLst>
              <a:ext uri="{FF2B5EF4-FFF2-40B4-BE49-F238E27FC236}">
                <a16:creationId xmlns:a16="http://schemas.microsoft.com/office/drawing/2014/main" id="{BB27B7D2-E8CC-B29E-08CD-4222C3DF28C7}"/>
              </a:ext>
            </a:extLst>
          </p:cNvPr>
          <p:cNvSpPr/>
          <p:nvPr/>
        </p:nvSpPr>
        <p:spPr>
          <a:xfrm>
            <a:off x="5394960" y="2518495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6BC6DF11-1415-2B6C-CA29-867C4CEBEA21}"/>
              </a:ext>
            </a:extLst>
          </p:cNvPr>
          <p:cNvSpPr/>
          <p:nvPr/>
        </p:nvSpPr>
        <p:spPr>
          <a:xfrm>
            <a:off x="5394960" y="2514600"/>
            <a:ext cx="3108960" cy="210312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6C22FAC4-8215-FA8F-AD37-DFCA06702B7D}"/>
              </a:ext>
            </a:extLst>
          </p:cNvPr>
          <p:cNvSpPr/>
          <p:nvPr/>
        </p:nvSpPr>
        <p:spPr>
          <a:xfrm>
            <a:off x="5486400" y="255117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57" name="Text 45">
            <a:extLst>
              <a:ext uri="{FF2B5EF4-FFF2-40B4-BE49-F238E27FC236}">
                <a16:creationId xmlns:a16="http://schemas.microsoft.com/office/drawing/2014/main" id="{BBB968EF-FDA6-80E3-17BB-638FA43E4387}"/>
              </a:ext>
            </a:extLst>
          </p:cNvPr>
          <p:cNvSpPr/>
          <p:nvPr/>
        </p:nvSpPr>
        <p:spPr>
          <a:xfrm>
            <a:off x="6903720" y="2551176"/>
            <a:ext cx="150876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 fixed time slot</a:t>
            </a:r>
            <a:endParaRPr lang="en-US" sz="1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D4710EA6-8F25-B0F1-CB69-D7D184D6F838}"/>
              </a:ext>
            </a:extLst>
          </p:cNvPr>
          <p:cNvSpPr/>
          <p:nvPr/>
        </p:nvSpPr>
        <p:spPr>
          <a:xfrm>
            <a:off x="457200" y="2985010"/>
            <a:ext cx="4572000" cy="140028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4DAAE410-2027-6D8F-4E35-DBAA96960989}"/>
              </a:ext>
            </a:extLst>
          </p:cNvPr>
          <p:cNvSpPr/>
          <p:nvPr/>
        </p:nvSpPr>
        <p:spPr>
          <a:xfrm>
            <a:off x="640080" y="3069387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QUESTIONS:</a:t>
            </a:r>
            <a:endParaRPr lang="en-US" sz="1200" dirty="0"/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B4869646-F697-6725-5D6F-A1D67C8643BB}"/>
              </a:ext>
            </a:extLst>
          </p:cNvPr>
          <p:cNvSpPr/>
          <p:nvPr/>
        </p:nvSpPr>
        <p:spPr>
          <a:xfrm>
            <a:off x="640080" y="3336644"/>
            <a:ext cx="4206240" cy="92876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Timing.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at least 4 hours between  ascent and descent slots. From gondola exit to bridge and back: ~3 h at a comfortable pace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GB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late.</a:t>
            </a:r>
            <a:r>
              <a:rPr lang="en-GB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Yes, Some hikers do not reach the gondola in time for their booked descent. Flexibility is limited and depends on the gondola operator on the day, so allow extra buffer time</a:t>
            </a:r>
            <a:endParaRPr lang="en-US" sz="1100" dirty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F644880F-6D1E-CECC-32DD-92FA36A8E864}"/>
              </a:ext>
            </a:extLst>
          </p:cNvPr>
          <p:cNvSpPr/>
          <p:nvPr/>
        </p:nvSpPr>
        <p:spPr>
          <a:xfrm>
            <a:off x="5394960" y="3069387"/>
            <a:ext cx="324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63" name="Shape 40">
            <a:extLst>
              <a:ext uri="{FF2B5EF4-FFF2-40B4-BE49-F238E27FC236}">
                <a16:creationId xmlns:a16="http://schemas.microsoft.com/office/drawing/2014/main" id="{D18F60C7-B42D-B17F-6D01-9205F22D4AAB}"/>
              </a:ext>
            </a:extLst>
          </p:cNvPr>
          <p:cNvSpPr/>
          <p:nvPr/>
        </p:nvSpPr>
        <p:spPr>
          <a:xfrm>
            <a:off x="5394960" y="3336644"/>
            <a:ext cx="3108960" cy="92876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r>
              <a:rPr lang="en-GB" sz="1100" dirty="0">
                <a:hlinkClick r:id="rId3"/>
              </a:rPr>
              <a:t>https://www.grimselwelt.ch/en/experiences/hike-to-the-suspention-bridge-triftbruecke/</a:t>
            </a:r>
            <a:endParaRPr lang="en-GB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day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66360" y="384048"/>
            <a:ext cx="1234440" cy="320040"/>
          </a:xfrm>
          <a:prstGeom prst="rect">
            <a:avLst/>
          </a:prstGeom>
          <a:solidFill>
            <a:srgbClr val="2F6B7A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166360" y="448056"/>
            <a:ext cx="1234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8176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~06:30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26187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7E4AFE3-4800-863B-FA21-683BDCFCD724}"/>
              </a:ext>
            </a:extLst>
          </p:cNvPr>
          <p:cNvGrpSpPr/>
          <p:nvPr/>
        </p:nvGrpSpPr>
        <p:grpSpPr>
          <a:xfrm>
            <a:off x="1645920" y="1234440"/>
            <a:ext cx="6583680" cy="347472"/>
            <a:chOff x="1645920" y="1234440"/>
            <a:chExt cx="6583680" cy="347472"/>
          </a:xfrm>
        </p:grpSpPr>
        <p:sp>
          <p:nvSpPr>
            <p:cNvPr id="10" name="Text 8"/>
            <p:cNvSpPr/>
            <p:nvPr/>
          </p:nvSpPr>
          <p:spPr>
            <a:xfrm>
              <a:off x="1645920" y="123444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Depart Zürich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45920" y="139903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Departing early reduces chance of traffic jams. Drive is ~2 h.</a:t>
              </a:r>
              <a:endParaRPr lang="en-US" sz="9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640080" y="16459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~08:30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167335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D3FF573-A88E-52B3-B04F-0BA10DA4792F}"/>
              </a:ext>
            </a:extLst>
          </p:cNvPr>
          <p:cNvGrpSpPr/>
          <p:nvPr/>
        </p:nvGrpSpPr>
        <p:grpSpPr>
          <a:xfrm>
            <a:off x="1645920" y="1645920"/>
            <a:ext cx="6583680" cy="347472"/>
            <a:chOff x="1645920" y="1645920"/>
            <a:chExt cx="6583680" cy="347472"/>
          </a:xfrm>
        </p:grpSpPr>
        <p:sp>
          <p:nvSpPr>
            <p:cNvPr id="14" name="Text 12"/>
            <p:cNvSpPr/>
            <p:nvPr/>
          </p:nvSpPr>
          <p:spPr>
            <a:xfrm>
              <a:off x="1645920" y="164592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Arrive at </a:t>
              </a:r>
              <a:r>
                <a:rPr lang="en-US" sz="1100" b="1" dirty="0" err="1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Triftbahn</a:t>
              </a: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645920" y="181051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Parking fills quickly, especially on weekends - arrive early for the best chance of securing a space closer to Triftbahn.</a:t>
              </a:r>
              <a:endParaRPr lang="en-US" sz="9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640080" y="20574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~08:50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208483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A2643AD-D841-47B7-E2F7-7848CDC2A8E6}"/>
              </a:ext>
            </a:extLst>
          </p:cNvPr>
          <p:cNvGrpSpPr/>
          <p:nvPr/>
        </p:nvGrpSpPr>
        <p:grpSpPr>
          <a:xfrm>
            <a:off x="1645920" y="2057400"/>
            <a:ext cx="6583680" cy="347472"/>
            <a:chOff x="1645920" y="2057400"/>
            <a:chExt cx="6583680" cy="347472"/>
          </a:xfrm>
        </p:grpSpPr>
        <p:sp>
          <p:nvSpPr>
            <p:cNvPr id="18" name="Text 16"/>
            <p:cNvSpPr/>
            <p:nvPr/>
          </p:nvSpPr>
          <p:spPr>
            <a:xfrm>
              <a:off x="1645920" y="205740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Triftbahn gondola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645920" y="222199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Take gondola to the top (pre-booked). Trail starts from gondola exit. Trekking poles recommended. Ascent is ~1.5 h.</a:t>
              </a:r>
              <a:endParaRPr lang="en-US" sz="9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640080" y="246888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~11:00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3040" y="249631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6AD301-09E4-6B44-C5B7-B9D2BECAFFF6}"/>
              </a:ext>
            </a:extLst>
          </p:cNvPr>
          <p:cNvGrpSpPr/>
          <p:nvPr/>
        </p:nvGrpSpPr>
        <p:grpSpPr>
          <a:xfrm>
            <a:off x="1645920" y="2468880"/>
            <a:ext cx="6583680" cy="347472"/>
            <a:chOff x="1645920" y="2468880"/>
            <a:chExt cx="6583680" cy="347472"/>
          </a:xfrm>
        </p:grpSpPr>
        <p:sp>
          <p:nvSpPr>
            <p:cNvPr id="22" name="Text 20"/>
            <p:cNvSpPr/>
            <p:nvPr/>
          </p:nvSpPr>
          <p:spPr>
            <a:xfrm>
              <a:off x="1645920" y="246888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Triftbrücke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645920" y="263347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170 m suspension bridge above turquoise glacier lake. Cross both ways. Wind moving the bridge is normal.</a:t>
              </a:r>
              <a:endParaRPr lang="en-US" sz="9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640080" y="288036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~12:30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290779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2DF46A-DA83-E6B0-72DB-481C6120CE65}"/>
              </a:ext>
            </a:extLst>
          </p:cNvPr>
          <p:cNvGrpSpPr/>
          <p:nvPr/>
        </p:nvGrpSpPr>
        <p:grpSpPr>
          <a:xfrm>
            <a:off x="1645920" y="2880360"/>
            <a:ext cx="6583680" cy="347472"/>
            <a:chOff x="1645920" y="2880360"/>
            <a:chExt cx="6583680" cy="347472"/>
          </a:xfrm>
        </p:grpSpPr>
        <p:sp>
          <p:nvSpPr>
            <p:cNvPr id="26" name="Text 24"/>
            <p:cNvSpPr/>
            <p:nvPr/>
          </p:nvSpPr>
          <p:spPr>
            <a:xfrm>
              <a:off x="1645920" y="288036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Lunch + descent start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645920" y="304495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Eat before descending. Descent is ~1.5 h.</a:t>
              </a:r>
              <a:endParaRPr lang="en-US" sz="9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640080" y="32918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~14:10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63040" y="331927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463B04-EA2A-4867-3566-3BAB654CB10F}"/>
              </a:ext>
            </a:extLst>
          </p:cNvPr>
          <p:cNvGrpSpPr/>
          <p:nvPr/>
        </p:nvGrpSpPr>
        <p:grpSpPr>
          <a:xfrm>
            <a:off x="1645920" y="3291840"/>
            <a:ext cx="6583680" cy="347472"/>
            <a:chOff x="1645920" y="3291840"/>
            <a:chExt cx="6583680" cy="347472"/>
          </a:xfrm>
        </p:grpSpPr>
        <p:sp>
          <p:nvSpPr>
            <p:cNvPr id="30" name="Text 28"/>
            <p:cNvSpPr/>
            <p:nvPr/>
          </p:nvSpPr>
          <p:spPr>
            <a:xfrm>
              <a:off x="1645920" y="329184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 at Triftbahn</a:t>
              </a:r>
              <a:endParaRPr lang="en-US" sz="11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645920" y="345643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Take gondola down.</a:t>
              </a:r>
              <a:endParaRPr lang="en-US" sz="9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640080" y="370332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~14:30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63040" y="373075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4A6271B-1D63-378C-BB6F-D3B4456CD5D6}"/>
              </a:ext>
            </a:extLst>
          </p:cNvPr>
          <p:cNvGrpSpPr/>
          <p:nvPr/>
        </p:nvGrpSpPr>
        <p:grpSpPr>
          <a:xfrm>
            <a:off x="1645920" y="3703320"/>
            <a:ext cx="6583680" cy="347472"/>
            <a:chOff x="1645920" y="3703320"/>
            <a:chExt cx="6583680" cy="347472"/>
          </a:xfrm>
        </p:grpSpPr>
        <p:sp>
          <p:nvSpPr>
            <p:cNvPr id="34" name="Text 32"/>
            <p:cNvSpPr/>
            <p:nvPr/>
          </p:nvSpPr>
          <p:spPr>
            <a:xfrm>
              <a:off x="1645920" y="370332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Depart Triftbahn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645920" y="386791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Expect longer drive back on weekends and holidays. Drive is ~2 h.</a:t>
              </a:r>
              <a:endParaRPr lang="en-US" sz="9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640080" y="41148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~16:30</a:t>
            </a:r>
            <a:endParaRPr lang="en-US" sz="10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7CF1B48-A498-2F99-B749-B352DA579FD8}"/>
              </a:ext>
            </a:extLst>
          </p:cNvPr>
          <p:cNvGrpSpPr/>
          <p:nvPr/>
        </p:nvGrpSpPr>
        <p:grpSpPr>
          <a:xfrm>
            <a:off x="1645920" y="4114800"/>
            <a:ext cx="6583680" cy="347472"/>
            <a:chOff x="1645920" y="4114800"/>
            <a:chExt cx="6583680" cy="347472"/>
          </a:xfrm>
        </p:grpSpPr>
        <p:sp>
          <p:nvSpPr>
            <p:cNvPr id="37" name="Text 35"/>
            <p:cNvSpPr/>
            <p:nvPr/>
          </p:nvSpPr>
          <p:spPr>
            <a:xfrm>
              <a:off x="1645920" y="4114800"/>
              <a:ext cx="658368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 in Zürich</a:t>
              </a:r>
              <a:endParaRPr lang="en-US" sz="11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645920" y="4279392"/>
              <a:ext cx="65836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~10 h round trip door to door.</a:t>
              </a:r>
              <a:endParaRPr lang="en-US" sz="900" dirty="0"/>
            </a:p>
          </p:txBody>
        </p:sp>
      </p:grpSp>
      <p:sp>
        <p:nvSpPr>
          <p:cNvPr id="39" name="Shape 37"/>
          <p:cNvSpPr/>
          <p:nvPr/>
        </p:nvSpPr>
        <p:spPr>
          <a:xfrm>
            <a:off x="5389040" y="3553037"/>
            <a:ext cx="3060690" cy="1042247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5422904" y="3644478"/>
            <a:ext cx="2772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00" b="1" kern="0" spc="3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SAFE START TIMES</a:t>
            </a:r>
            <a:endParaRPr lang="en-US" sz="1100" b="1" dirty="0">
              <a:solidFill>
                <a:srgbClr val="853005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06440" y="3854578"/>
            <a:ext cx="2560320" cy="210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H" sz="900">
              <a:solidFill>
                <a:srgbClr val="853005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01547" y="3891154"/>
            <a:ext cx="1872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 ZÜRICH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06640" y="3891154"/>
            <a:ext cx="108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08:00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06440" y="4083178"/>
            <a:ext cx="2560320" cy="210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H" sz="900">
              <a:solidFill>
                <a:srgbClr val="853005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5601547" y="4119754"/>
            <a:ext cx="1872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GONDOLA UP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06640" y="4119754"/>
            <a:ext cx="108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~11:30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06440" y="4311778"/>
            <a:ext cx="2560320" cy="210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H" sz="900">
              <a:solidFill>
                <a:srgbClr val="853005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5601547" y="4348354"/>
            <a:ext cx="1872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TURNAROUND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06640" y="4348354"/>
            <a:ext cx="108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~13:30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83CA4898-514E-8635-EC85-41BA0AC220D1}"/>
              </a:ext>
            </a:extLst>
          </p:cNvPr>
          <p:cNvSpPr/>
          <p:nvPr/>
        </p:nvSpPr>
        <p:spPr>
          <a:xfrm>
            <a:off x="1463040" y="414223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">
            <a:extLst>
              <a:ext uri="{FF2B5EF4-FFF2-40B4-BE49-F238E27FC236}">
                <a16:creationId xmlns:a16="http://schemas.microsoft.com/office/drawing/2014/main" id="{907EA3B9-7345-2795-30CC-275ECBAE436A}"/>
              </a:ext>
            </a:extLst>
          </p:cNvPr>
          <p:cNvSpPr/>
          <p:nvPr/>
        </p:nvSpPr>
        <p:spPr>
          <a:xfrm>
            <a:off x="5166360" y="384048"/>
            <a:ext cx="1234440" cy="320040"/>
          </a:xfrm>
          <a:prstGeom prst="rect">
            <a:avLst/>
          </a:prstGeom>
          <a:solidFill>
            <a:srgbClr val="2F6B7A"/>
          </a:solidFill>
          <a:ln/>
        </p:spPr>
        <p:txBody>
          <a:bodyPr/>
          <a:lstStyle/>
          <a:p>
            <a:endParaRPr lang="en-CH" dirty="0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7899CCAB-41D1-E916-1B77-47487B31B970}"/>
              </a:ext>
            </a:extLst>
          </p:cNvPr>
          <p:cNvSpPr/>
          <p:nvPr/>
        </p:nvSpPr>
        <p:spPr>
          <a:xfrm>
            <a:off x="457200" y="1005840"/>
            <a:ext cx="8229600" cy="38176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day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166360" y="429768"/>
            <a:ext cx="12344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PUBLIC TRANSPORT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~08:10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28473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FEA5DB-7FF6-0599-F00A-FFDD85C84BCD}"/>
              </a:ext>
            </a:extLst>
          </p:cNvPr>
          <p:cNvGrpSpPr/>
          <p:nvPr/>
        </p:nvGrpSpPr>
        <p:grpSpPr>
          <a:xfrm>
            <a:off x="1645920" y="1234440"/>
            <a:ext cx="6480000" cy="393192"/>
            <a:chOff x="1645920" y="1234440"/>
            <a:chExt cx="6480000" cy="393192"/>
          </a:xfrm>
        </p:grpSpPr>
        <p:sp>
          <p:nvSpPr>
            <p:cNvPr id="10" name="Text 8"/>
            <p:cNvSpPr/>
            <p:nvPr/>
          </p:nvSpPr>
          <p:spPr>
            <a:xfrm>
              <a:off x="1645920" y="1234440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Depart Zürich HB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45920" y="1399032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to Luzern, connection to Meiringen, then Innertkirchen / Grimseltor. Confirm exact time on SBB app. Train is ~3 h.</a:t>
              </a:r>
              <a:endParaRPr lang="en-US" sz="9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640080" y="167335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~10:50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1723644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526777D-02BF-2B2D-9384-2BD1A59BAF41}"/>
              </a:ext>
            </a:extLst>
          </p:cNvPr>
          <p:cNvGrpSpPr/>
          <p:nvPr/>
        </p:nvGrpSpPr>
        <p:grpSpPr>
          <a:xfrm>
            <a:off x="1645920" y="1673352"/>
            <a:ext cx="6480000" cy="393192"/>
            <a:chOff x="1645920" y="1673352"/>
            <a:chExt cx="6480000" cy="393192"/>
          </a:xfrm>
        </p:grpSpPr>
        <p:sp>
          <p:nvSpPr>
            <p:cNvPr id="14" name="Text 12"/>
            <p:cNvSpPr/>
            <p:nvPr/>
          </p:nvSpPr>
          <p:spPr>
            <a:xfrm>
              <a:off x="1645920" y="1673352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Arrive Innertkirchen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645920" y="1837944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to bus toward Nessental, Triftbahn. Bus is infrequent but aligned with the train schedule. Confirm on SBB app. Bus is ~15 min.</a:t>
              </a:r>
              <a:endParaRPr lang="en-US" sz="9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640080" y="211226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~11:10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2162556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ADFF95B-AA47-028E-7A9B-941E4780906C}"/>
              </a:ext>
            </a:extLst>
          </p:cNvPr>
          <p:cNvGrpSpPr/>
          <p:nvPr/>
        </p:nvGrpSpPr>
        <p:grpSpPr>
          <a:xfrm>
            <a:off x="1645920" y="2112264"/>
            <a:ext cx="6480000" cy="393192"/>
            <a:chOff x="1645920" y="2112264"/>
            <a:chExt cx="6480000" cy="393192"/>
          </a:xfrm>
        </p:grpSpPr>
        <p:sp>
          <p:nvSpPr>
            <p:cNvPr id="18" name="Text 16"/>
            <p:cNvSpPr/>
            <p:nvPr/>
          </p:nvSpPr>
          <p:spPr>
            <a:xfrm>
              <a:off x="1645920" y="2112264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Triftbahn gondola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645920" y="2276856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Take gondola to top (pre-booked). Trail starts from gondola exit. Trekking poles recommended. Ascent is ~1.5 h.</a:t>
              </a:r>
              <a:endParaRPr lang="en-US" sz="9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640080" y="255117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~13:00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3040" y="2601468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47C89D-81D2-4963-CC15-9390928B882A}"/>
              </a:ext>
            </a:extLst>
          </p:cNvPr>
          <p:cNvGrpSpPr/>
          <p:nvPr/>
        </p:nvGrpSpPr>
        <p:grpSpPr>
          <a:xfrm>
            <a:off x="1645920" y="2551176"/>
            <a:ext cx="6480000" cy="393192"/>
            <a:chOff x="1645920" y="2551176"/>
            <a:chExt cx="6480000" cy="393192"/>
          </a:xfrm>
        </p:grpSpPr>
        <p:sp>
          <p:nvSpPr>
            <p:cNvPr id="22" name="Text 20"/>
            <p:cNvSpPr/>
            <p:nvPr/>
          </p:nvSpPr>
          <p:spPr>
            <a:xfrm>
              <a:off x="1645920" y="2551176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Triftbrücke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645920" y="2715768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170 m suspension bridge above turquoise glacier lake. Cross both ways. Wind moving the bridge is normal.</a:t>
              </a:r>
              <a:endParaRPr lang="en-US" sz="9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640080" y="299008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~14:00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3040380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D1CBCB4-312A-6A0F-AAB9-9AEC735738E4}"/>
              </a:ext>
            </a:extLst>
          </p:cNvPr>
          <p:cNvGrpSpPr/>
          <p:nvPr/>
        </p:nvGrpSpPr>
        <p:grpSpPr>
          <a:xfrm>
            <a:off x="1645920" y="2990088"/>
            <a:ext cx="6480000" cy="393192"/>
            <a:chOff x="1645920" y="2990088"/>
            <a:chExt cx="6480000" cy="393192"/>
          </a:xfrm>
        </p:grpSpPr>
        <p:sp>
          <p:nvSpPr>
            <p:cNvPr id="26" name="Text 24"/>
            <p:cNvSpPr/>
            <p:nvPr/>
          </p:nvSpPr>
          <p:spPr>
            <a:xfrm>
              <a:off x="1645920" y="2990088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Lunch + descent start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645920" y="3154680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Eat before descending. Descent is ~1.5 h.</a:t>
              </a:r>
              <a:endParaRPr lang="en-US" sz="9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640080" y="34290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~16:00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63040" y="3479292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A183C40-C933-4DA3-EF31-1A26D86AE038}"/>
              </a:ext>
            </a:extLst>
          </p:cNvPr>
          <p:cNvGrpSpPr/>
          <p:nvPr/>
        </p:nvGrpSpPr>
        <p:grpSpPr>
          <a:xfrm>
            <a:off x="1645920" y="3429000"/>
            <a:ext cx="6480000" cy="393192"/>
            <a:chOff x="1645920" y="3429000"/>
            <a:chExt cx="6480000" cy="393192"/>
          </a:xfrm>
        </p:grpSpPr>
        <p:sp>
          <p:nvSpPr>
            <p:cNvPr id="30" name="Text 28"/>
            <p:cNvSpPr/>
            <p:nvPr/>
          </p:nvSpPr>
          <p:spPr>
            <a:xfrm>
              <a:off x="1645920" y="3429000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 at Nessental</a:t>
              </a:r>
              <a:endParaRPr lang="en-US" sz="11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645920" y="3593592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Take gondola down. Check return bus to Innertkirchen on SBB app.</a:t>
              </a:r>
              <a:endParaRPr lang="en-US" sz="9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640080" y="386791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~16:40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63040" y="3918204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327F0CC-3C85-BB4A-3E30-6A64EA46CE2B}"/>
              </a:ext>
            </a:extLst>
          </p:cNvPr>
          <p:cNvGrpSpPr/>
          <p:nvPr/>
        </p:nvGrpSpPr>
        <p:grpSpPr>
          <a:xfrm>
            <a:off x="1645920" y="3867912"/>
            <a:ext cx="6480000" cy="393192"/>
            <a:chOff x="1645920" y="3867912"/>
            <a:chExt cx="6480000" cy="393192"/>
          </a:xfrm>
        </p:grpSpPr>
        <p:sp>
          <p:nvSpPr>
            <p:cNvPr id="34" name="Text 32"/>
            <p:cNvSpPr/>
            <p:nvPr/>
          </p:nvSpPr>
          <p:spPr>
            <a:xfrm>
              <a:off x="1645920" y="3867912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Depart </a:t>
              </a:r>
              <a:r>
                <a:rPr lang="en-US" sz="1100" b="1" dirty="0" err="1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Triftbahn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645920" y="4032504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every 1h; for example; 16:40, 17:40, 18:40 (the last one).</a:t>
              </a:r>
              <a:endParaRPr lang="en-US" sz="9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640080" y="430682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~20:00</a:t>
            </a:r>
            <a:endParaRPr lang="en-US" sz="10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91D0113-840E-82B7-5498-C89B6C578CCE}"/>
              </a:ext>
            </a:extLst>
          </p:cNvPr>
          <p:cNvGrpSpPr/>
          <p:nvPr/>
        </p:nvGrpSpPr>
        <p:grpSpPr>
          <a:xfrm>
            <a:off x="1645920" y="4306824"/>
            <a:ext cx="6480000" cy="393192"/>
            <a:chOff x="1645920" y="4306824"/>
            <a:chExt cx="6480000" cy="393192"/>
          </a:xfrm>
        </p:grpSpPr>
        <p:sp>
          <p:nvSpPr>
            <p:cNvPr id="37" name="Text 35"/>
            <p:cNvSpPr/>
            <p:nvPr/>
          </p:nvSpPr>
          <p:spPr>
            <a:xfrm>
              <a:off x="1645920" y="4306824"/>
              <a:ext cx="64800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 in Zürich</a:t>
              </a:r>
              <a:endParaRPr lang="en-US" sz="11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645920" y="4471416"/>
              <a:ext cx="6480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~12 h round trip door to door.</a:t>
              </a:r>
              <a:endParaRPr lang="en-US" sz="900" dirty="0"/>
            </a:p>
          </p:txBody>
        </p:sp>
      </p:grpSp>
      <p:sp>
        <p:nvSpPr>
          <p:cNvPr id="52" name="Shape 31">
            <a:extLst>
              <a:ext uri="{FF2B5EF4-FFF2-40B4-BE49-F238E27FC236}">
                <a16:creationId xmlns:a16="http://schemas.microsoft.com/office/drawing/2014/main" id="{052111A3-B997-CDD5-563A-43075CADB6C4}"/>
              </a:ext>
            </a:extLst>
          </p:cNvPr>
          <p:cNvSpPr/>
          <p:nvPr/>
        </p:nvSpPr>
        <p:spPr>
          <a:xfrm>
            <a:off x="1463040" y="4357116"/>
            <a:ext cx="0" cy="29260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CCE3ABED-A85E-50DA-900F-C56604C2258C}"/>
              </a:ext>
            </a:extLst>
          </p:cNvPr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63" name="Shape 37">
            <a:extLst>
              <a:ext uri="{FF2B5EF4-FFF2-40B4-BE49-F238E27FC236}">
                <a16:creationId xmlns:a16="http://schemas.microsoft.com/office/drawing/2014/main" id="{6C81EC6B-8D32-FBCF-B0BB-6F1E20C4B27A}"/>
              </a:ext>
            </a:extLst>
          </p:cNvPr>
          <p:cNvSpPr/>
          <p:nvPr/>
        </p:nvSpPr>
        <p:spPr>
          <a:xfrm>
            <a:off x="5389040" y="3553037"/>
            <a:ext cx="3060690" cy="1042247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F252A619-10F9-A225-0F17-234C96A97363}"/>
              </a:ext>
            </a:extLst>
          </p:cNvPr>
          <p:cNvSpPr/>
          <p:nvPr/>
        </p:nvSpPr>
        <p:spPr>
          <a:xfrm>
            <a:off x="5422904" y="3644478"/>
            <a:ext cx="2772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00" b="1" kern="0" spc="3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SAFE START TIMES</a:t>
            </a:r>
            <a:endParaRPr lang="en-US" sz="1100" b="1" dirty="0">
              <a:solidFill>
                <a:srgbClr val="853005"/>
              </a:solidFill>
            </a:endParaRPr>
          </a:p>
        </p:txBody>
      </p:sp>
      <p:sp>
        <p:nvSpPr>
          <p:cNvPr id="65" name="Shape 39">
            <a:extLst>
              <a:ext uri="{FF2B5EF4-FFF2-40B4-BE49-F238E27FC236}">
                <a16:creationId xmlns:a16="http://schemas.microsoft.com/office/drawing/2014/main" id="{5E7FCA23-AF58-7A46-3718-18ADB8CE86C9}"/>
              </a:ext>
            </a:extLst>
          </p:cNvPr>
          <p:cNvSpPr/>
          <p:nvPr/>
        </p:nvSpPr>
        <p:spPr>
          <a:xfrm>
            <a:off x="5806440" y="3854578"/>
            <a:ext cx="2560320" cy="210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H" sz="900">
              <a:solidFill>
                <a:srgbClr val="853005"/>
              </a:solidFill>
            </a:endParaRPr>
          </a:p>
        </p:txBody>
      </p:sp>
      <p:sp>
        <p:nvSpPr>
          <p:cNvPr id="66" name="Text 40">
            <a:extLst>
              <a:ext uri="{FF2B5EF4-FFF2-40B4-BE49-F238E27FC236}">
                <a16:creationId xmlns:a16="http://schemas.microsoft.com/office/drawing/2014/main" id="{B8A41366-8E03-CC1D-5BD1-F69A3636CBC7}"/>
              </a:ext>
            </a:extLst>
          </p:cNvPr>
          <p:cNvSpPr/>
          <p:nvPr/>
        </p:nvSpPr>
        <p:spPr>
          <a:xfrm>
            <a:off x="5601547" y="3891154"/>
            <a:ext cx="1872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 ZÜRICH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7DFFECFC-713F-5E2A-06D3-E091D419377F}"/>
              </a:ext>
            </a:extLst>
          </p:cNvPr>
          <p:cNvSpPr/>
          <p:nvPr/>
        </p:nvSpPr>
        <p:spPr>
          <a:xfrm>
            <a:off x="7406640" y="3891154"/>
            <a:ext cx="108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68" name="Shape 42">
            <a:extLst>
              <a:ext uri="{FF2B5EF4-FFF2-40B4-BE49-F238E27FC236}">
                <a16:creationId xmlns:a16="http://schemas.microsoft.com/office/drawing/2014/main" id="{B8600F6C-7F98-C8D9-1EB1-A4D9C4BC88BA}"/>
              </a:ext>
            </a:extLst>
          </p:cNvPr>
          <p:cNvSpPr/>
          <p:nvPr/>
        </p:nvSpPr>
        <p:spPr>
          <a:xfrm>
            <a:off x="5806440" y="4083178"/>
            <a:ext cx="2560320" cy="210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H" sz="900">
              <a:solidFill>
                <a:srgbClr val="853005"/>
              </a:solidFill>
            </a:endParaRPr>
          </a:p>
        </p:txBody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0ADF051C-A2B0-89BF-5533-4C446366D296}"/>
              </a:ext>
            </a:extLst>
          </p:cNvPr>
          <p:cNvSpPr/>
          <p:nvPr/>
        </p:nvSpPr>
        <p:spPr>
          <a:xfrm>
            <a:off x="5601547" y="4119754"/>
            <a:ext cx="1872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GONDOLA UP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70" name="Text 44">
            <a:extLst>
              <a:ext uri="{FF2B5EF4-FFF2-40B4-BE49-F238E27FC236}">
                <a16:creationId xmlns:a16="http://schemas.microsoft.com/office/drawing/2014/main" id="{31EB49BC-A17C-9386-6CD8-1419060AFD7D}"/>
              </a:ext>
            </a:extLst>
          </p:cNvPr>
          <p:cNvSpPr/>
          <p:nvPr/>
        </p:nvSpPr>
        <p:spPr>
          <a:xfrm>
            <a:off x="7406640" y="4119754"/>
            <a:ext cx="108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~11:30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71" name="Shape 45">
            <a:extLst>
              <a:ext uri="{FF2B5EF4-FFF2-40B4-BE49-F238E27FC236}">
                <a16:creationId xmlns:a16="http://schemas.microsoft.com/office/drawing/2014/main" id="{6521FE60-B4B3-12AE-1EFA-D8C27A291C4F}"/>
              </a:ext>
            </a:extLst>
          </p:cNvPr>
          <p:cNvSpPr/>
          <p:nvPr/>
        </p:nvSpPr>
        <p:spPr>
          <a:xfrm>
            <a:off x="5806440" y="4311778"/>
            <a:ext cx="2560320" cy="210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H" sz="900">
              <a:solidFill>
                <a:srgbClr val="853005"/>
              </a:solidFill>
            </a:endParaRPr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05883F52-6B1C-21F5-7848-783DBBD5FC1F}"/>
              </a:ext>
            </a:extLst>
          </p:cNvPr>
          <p:cNvSpPr/>
          <p:nvPr/>
        </p:nvSpPr>
        <p:spPr>
          <a:xfrm>
            <a:off x="5601547" y="4348354"/>
            <a:ext cx="1872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TURNAROUND</a:t>
            </a:r>
            <a:endParaRPr lang="en-US" sz="900" dirty="0">
              <a:solidFill>
                <a:srgbClr val="853005"/>
              </a:solidFill>
            </a:endParaRPr>
          </a:p>
        </p:txBody>
      </p:sp>
      <p:sp>
        <p:nvSpPr>
          <p:cNvPr id="73" name="Text 47">
            <a:extLst>
              <a:ext uri="{FF2B5EF4-FFF2-40B4-BE49-F238E27FC236}">
                <a16:creationId xmlns:a16="http://schemas.microsoft.com/office/drawing/2014/main" id="{2C878B4F-9AF4-5FB6-1981-EC8EC825C1BE}"/>
              </a:ext>
            </a:extLst>
          </p:cNvPr>
          <p:cNvSpPr/>
          <p:nvPr/>
        </p:nvSpPr>
        <p:spPr>
          <a:xfrm>
            <a:off x="7406640" y="4348354"/>
            <a:ext cx="1080000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~13:30</a:t>
            </a:r>
            <a:endParaRPr lang="en-US" sz="900" dirty="0">
              <a:solidFill>
                <a:srgbClr val="85300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rules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005840"/>
            <a:ext cx="3960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18" name="Shape 16"/>
          <p:cNvSpPr/>
          <p:nvPr/>
        </p:nvSpPr>
        <p:spPr>
          <a:xfrm>
            <a:off x="457200" y="1005840"/>
            <a:ext cx="3960000" cy="73152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9" name="Text 17"/>
          <p:cNvSpPr/>
          <p:nvPr/>
        </p:nvSpPr>
        <p:spPr>
          <a:xfrm>
            <a:off x="548640" y="1188720"/>
            <a:ext cx="39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WHEN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1417320"/>
            <a:ext cx="39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morning forecast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1627632"/>
            <a:ext cx="39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thunder risk after 13:00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1837944"/>
            <a:ext cx="39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</a:t>
            </a: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October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048256"/>
            <a:ext cx="39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wind warning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6802" y="1005840"/>
            <a:ext cx="3960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25" name="Shape 23"/>
          <p:cNvSpPr/>
          <p:nvPr/>
        </p:nvSpPr>
        <p:spPr>
          <a:xfrm>
            <a:off x="4726802" y="1005840"/>
            <a:ext cx="396000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6" name="Text 24"/>
          <p:cNvSpPr/>
          <p:nvPr/>
        </p:nvSpPr>
        <p:spPr>
          <a:xfrm>
            <a:off x="4818242" y="1188720"/>
            <a:ext cx="39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GO WHEN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242" y="1417320"/>
            <a:ext cx="396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wind warning (bridge closes)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242" y="1627632"/>
            <a:ext cx="396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forecast after 13:00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242" y="1837944"/>
            <a:ext cx="396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June </a:t>
            </a: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snow likely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242" y="2048256"/>
            <a:ext cx="396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October </a:t>
            </a:r>
            <a:r>
              <a:rPr lang="en-US" sz="11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icy conditions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2468880"/>
            <a:ext cx="36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tip: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quietest before 12:00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days: Saturdays in July &amp; August</a:t>
            </a:r>
            <a:endParaRPr lang="en-US" sz="1100" dirty="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9CE2D731-39FB-9885-3CDF-FB1DC51B7DBB}"/>
              </a:ext>
            </a:extLst>
          </p:cNvPr>
          <p:cNvSpPr/>
          <p:nvPr/>
        </p:nvSpPr>
        <p:spPr>
          <a:xfrm>
            <a:off x="457200" y="4518731"/>
            <a:ext cx="8229600" cy="320040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41">
            <a:extLst>
              <a:ext uri="{FF2B5EF4-FFF2-40B4-BE49-F238E27FC236}">
                <a16:creationId xmlns:a16="http://schemas.microsoft.com/office/drawing/2014/main" id="{344057AE-68EA-E8FE-3520-FBC785347A74}"/>
              </a:ext>
            </a:extLst>
          </p:cNvPr>
          <p:cNvSpPr/>
          <p:nvPr/>
        </p:nvSpPr>
        <p:spPr>
          <a:xfrm>
            <a:off x="594360" y="4582739"/>
            <a:ext cx="7955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00" b="1" dirty="0" err="1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MeteoSwiss</a:t>
            </a:r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– set location to </a:t>
            </a:r>
            <a:r>
              <a:rPr lang="en-US" sz="1000" b="1" dirty="0" err="1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Gadmen</a:t>
            </a:r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&gt;30% storm probability after 13:00, postpone.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What to bring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6014"/>
            <a:ext cx="8229600" cy="188489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6" name="Text 4"/>
          <p:cNvSpPr/>
          <p:nvPr/>
        </p:nvSpPr>
        <p:spPr>
          <a:xfrm>
            <a:off x="640080" y="100317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31774"/>
            <a:ext cx="786384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8" name="Text 6"/>
          <p:cNvSpPr/>
          <p:nvPr/>
        </p:nvSpPr>
        <p:spPr>
          <a:xfrm>
            <a:off x="731520" y="1277494"/>
            <a:ext cx="57607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gondola return (no Swiss pass discount)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27749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r"/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30 / adult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496950"/>
            <a:ext cx="786384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1" name="Text 9"/>
          <p:cNvSpPr/>
          <p:nvPr/>
        </p:nvSpPr>
        <p:spPr>
          <a:xfrm>
            <a:off x="731520" y="1542670"/>
            <a:ext cx="57607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parking at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station</a:t>
            </a:r>
          </a:p>
        </p:txBody>
      </p:sp>
      <p:sp>
        <p:nvSpPr>
          <p:cNvPr id="12" name="Text 10"/>
          <p:cNvSpPr/>
          <p:nvPr/>
        </p:nvSpPr>
        <p:spPr>
          <a:xfrm>
            <a:off x="6583680" y="1542670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r"/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5–8 / 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762126"/>
            <a:ext cx="7863840" cy="237744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14" name="Text 12"/>
          <p:cNvSpPr/>
          <p:nvPr/>
        </p:nvSpPr>
        <p:spPr>
          <a:xfrm>
            <a:off x="731520" y="1807846"/>
            <a:ext cx="576072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transport: Zürich HB ↔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Nessental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2nd class return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80784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r"/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40-140 /adult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027302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H" sz="1100"/>
          </a:p>
        </p:txBody>
      </p:sp>
      <p:sp>
        <p:nvSpPr>
          <p:cNvPr id="19" name="Shape 17"/>
          <p:cNvSpPr/>
          <p:nvPr/>
        </p:nvSpPr>
        <p:spPr>
          <a:xfrm>
            <a:off x="457200" y="2814912"/>
            <a:ext cx="8229600" cy="17585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sz="1100"/>
          </a:p>
        </p:txBody>
      </p:sp>
      <p:sp>
        <p:nvSpPr>
          <p:cNvPr id="20" name="Text 18"/>
          <p:cNvSpPr/>
          <p:nvPr/>
        </p:nvSpPr>
        <p:spPr>
          <a:xfrm>
            <a:off x="640080" y="2952073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26393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2" name="Text 20"/>
          <p:cNvSpPr/>
          <p:nvPr/>
        </p:nvSpPr>
        <p:spPr>
          <a:xfrm>
            <a:off x="685800" y="3262969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262969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 hiking boots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226393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5" name="Text 23"/>
          <p:cNvSpPr/>
          <p:nvPr/>
        </p:nvSpPr>
        <p:spPr>
          <a:xfrm>
            <a:off x="4663440" y="3262969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62969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Trekking poles (descent)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473281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28" name="Text 26"/>
          <p:cNvSpPr/>
          <p:nvPr/>
        </p:nvSpPr>
        <p:spPr>
          <a:xfrm>
            <a:off x="685800" y="3509857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509857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layer / shell jacket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473281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1" name="Text 29"/>
          <p:cNvSpPr/>
          <p:nvPr/>
        </p:nvSpPr>
        <p:spPr>
          <a:xfrm>
            <a:off x="4663440" y="3509857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509857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protection + sunglasses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3720169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4" name="Text 32"/>
          <p:cNvSpPr/>
          <p:nvPr/>
        </p:nvSpPr>
        <p:spPr>
          <a:xfrm>
            <a:off x="685800" y="3756745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3756745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layer (fleece)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720169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37" name="Text 35"/>
          <p:cNvSpPr/>
          <p:nvPr/>
        </p:nvSpPr>
        <p:spPr>
          <a:xfrm>
            <a:off x="4663440" y="3756745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756745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Headlamp (if late return)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3967057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0" name="Text 38"/>
          <p:cNvSpPr/>
          <p:nvPr/>
        </p:nvSpPr>
        <p:spPr>
          <a:xfrm>
            <a:off x="685800" y="4003633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" y="4003633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+ snacks (no food at bridge)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3967057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3" name="Text 41"/>
          <p:cNvSpPr/>
          <p:nvPr/>
        </p:nvSpPr>
        <p:spPr>
          <a:xfrm>
            <a:off x="4663440" y="4003633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003633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SwitzerlandMobility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SBB App (for route)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4213945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6" name="Text 44"/>
          <p:cNvSpPr/>
          <p:nvPr/>
        </p:nvSpPr>
        <p:spPr>
          <a:xfrm>
            <a:off x="685800" y="4250521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4250521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 water minimum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4213945"/>
            <a:ext cx="3840480" cy="219456"/>
          </a:xfrm>
          <a:prstGeom prst="rect">
            <a:avLst/>
          </a:prstGeom>
          <a:solidFill>
            <a:srgbClr val="F8F6F3"/>
          </a:solidFill>
          <a:ln/>
        </p:spPr>
        <p:txBody>
          <a:bodyPr/>
          <a:lstStyle/>
          <a:p>
            <a:endParaRPr lang="en-CH" sz="1100"/>
          </a:p>
        </p:txBody>
      </p:sp>
      <p:sp>
        <p:nvSpPr>
          <p:cNvPr id="49" name="Text 47"/>
          <p:cNvSpPr/>
          <p:nvPr/>
        </p:nvSpPr>
        <p:spPr>
          <a:xfrm>
            <a:off x="4663440" y="4250521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4250521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phone + offline timetable</a:t>
            </a:r>
            <a:endParaRPr lang="en-US" sz="110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002F2A9E-12E8-86F9-6149-8C203B528696}"/>
              </a:ext>
            </a:extLst>
          </p:cNvPr>
          <p:cNvSpPr/>
          <p:nvPr/>
        </p:nvSpPr>
        <p:spPr>
          <a:xfrm>
            <a:off x="640080" y="2116077"/>
            <a:ext cx="7863839" cy="528907"/>
          </a:xfrm>
          <a:prstGeom prst="rect">
            <a:avLst/>
          </a:prstGeom>
          <a:noFill/>
          <a:ln/>
        </p:spPr>
        <p:txBody>
          <a:bodyPr wrap="square" numCol="1" rtlCol="0" anchor="ctr"/>
          <a:lstStyle/>
          <a:p>
            <a:r>
              <a:rPr lang="en-GB" sz="900" i="1" dirty="0"/>
              <a:t>Public transport ticket prices depend on booking timing.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i="1" dirty="0"/>
              <a:t>Standard return ticket: ~CHF 110–140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i="1" dirty="0"/>
              <a:t>Saver Day Pass (advance purchase): ~CHF 39–79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i="1" dirty="0"/>
              <a:t>Saver Day Pass (last-minute): ~CHF 99–119</a:t>
            </a:r>
          </a:p>
        </p:txBody>
      </p:sp>
      <p:sp>
        <p:nvSpPr>
          <p:cNvPr id="59" name="Shape 40">
            <a:extLst>
              <a:ext uri="{FF2B5EF4-FFF2-40B4-BE49-F238E27FC236}">
                <a16:creationId xmlns:a16="http://schemas.microsoft.com/office/drawing/2014/main" id="{19BFA441-CCA6-5DDB-D757-293458846888}"/>
              </a:ext>
            </a:extLst>
          </p:cNvPr>
          <p:cNvSpPr/>
          <p:nvPr/>
        </p:nvSpPr>
        <p:spPr>
          <a:xfrm>
            <a:off x="457200" y="4654196"/>
            <a:ext cx="8229600" cy="320040"/>
          </a:xfrm>
          <a:prstGeom prst="rect">
            <a:avLst/>
          </a:prstGeom>
          <a:solidFill>
            <a:srgbClr val="FFF5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0" name="Text 41">
            <a:extLst>
              <a:ext uri="{FF2B5EF4-FFF2-40B4-BE49-F238E27FC236}">
                <a16:creationId xmlns:a16="http://schemas.microsoft.com/office/drawing/2014/main" id="{A1F36E6F-A70F-2297-1C8B-942165C154AE}"/>
              </a:ext>
            </a:extLst>
          </p:cNvPr>
          <p:cNvSpPr/>
          <p:nvPr/>
        </p:nvSpPr>
        <p:spPr>
          <a:xfrm>
            <a:off x="594360" y="4718204"/>
            <a:ext cx="7955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shop or water source between </a:t>
            </a:r>
            <a:r>
              <a:rPr lang="en-US" sz="1000" b="1" dirty="0" err="1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Gadmen</a:t>
            </a:r>
            <a:r>
              <a:rPr lang="en-US" sz="1000" b="1" dirty="0">
                <a:solidFill>
                  <a:srgbClr val="85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bridge. Bring everything from Zürich.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8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0" y="320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PIKELIS TRAVEL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47379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594360" y="2583518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83518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SBB timetable: Zürich HB →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Nessental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GB" sz="1000" dirty="0"/>
              <a:t>Check last </a:t>
            </a:r>
            <a:r>
              <a:rPr lang="en-GB" sz="1000" dirty="0" err="1"/>
              <a:t>PostBus</a:t>
            </a:r>
            <a:r>
              <a:rPr lang="en-GB" sz="1000" dirty="0"/>
              <a:t> departure from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Nessental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132158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dirty="0"/>
          </a:p>
        </p:txBody>
      </p:sp>
      <p:sp>
        <p:nvSpPr>
          <p:cNvPr id="9" name="Text 7"/>
          <p:cNvSpPr/>
          <p:nvPr/>
        </p:nvSpPr>
        <p:spPr>
          <a:xfrm>
            <a:off x="594360" y="3241886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41886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lunch + snacks and 2 L water minimum</a:t>
            </a:r>
            <a:r>
              <a:rPr lang="en-US" sz="1000" dirty="0"/>
              <a:t> (no supply at bridge)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1789514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594360" y="1899242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89924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</a:t>
            </a:r>
            <a:r>
              <a:rPr lang="en-US" sz="10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Triftbahn</a:t>
            </a: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gondola ascent &amp; descent slots in advance (</a:t>
            </a:r>
            <a:r>
              <a:rPr lang="en-GB" sz="1000" dirty="0"/>
              <a:t>allow ≥4 h between ascent and descent</a:t>
            </a: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It sells out on weekends</a:t>
            </a:r>
            <a:endParaRPr lang="en-US" sz="10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5D68D0AB-C980-FA82-DAEA-BF96C6E75C39}"/>
              </a:ext>
            </a:extLst>
          </p:cNvPr>
          <p:cNvSpPr/>
          <p:nvPr/>
        </p:nvSpPr>
        <p:spPr>
          <a:xfrm>
            <a:off x="457200" y="3790526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82D5846-28A1-68F2-6A49-5944E38419C5}"/>
              </a:ext>
            </a:extLst>
          </p:cNvPr>
          <p:cNvSpPr/>
          <p:nvPr/>
        </p:nvSpPr>
        <p:spPr>
          <a:xfrm>
            <a:off x="594360" y="3900254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A057933-E399-B664-6EC1-429D0EAF6620}"/>
              </a:ext>
            </a:extLst>
          </p:cNvPr>
          <p:cNvSpPr/>
          <p:nvPr/>
        </p:nvSpPr>
        <p:spPr>
          <a:xfrm>
            <a:off x="914400" y="390025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</a:t>
            </a:r>
            <a:r>
              <a:rPr lang="en-US" sz="10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SwitzerlandMobility</a:t>
            </a: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(the route is clearly marked, but helps to follow)</a:t>
            </a:r>
            <a:endParaRPr lang="en-US" sz="10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0461E0E-01D5-02CA-8AA1-AFF96E404F91}"/>
              </a:ext>
            </a:extLst>
          </p:cNvPr>
          <p:cNvSpPr/>
          <p:nvPr/>
        </p:nvSpPr>
        <p:spPr>
          <a:xfrm>
            <a:off x="457200" y="1131146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063431A6-C5D1-4364-4843-D0B04D781F8B}"/>
              </a:ext>
            </a:extLst>
          </p:cNvPr>
          <p:cNvSpPr/>
          <p:nvPr/>
        </p:nvSpPr>
        <p:spPr>
          <a:xfrm>
            <a:off x="594360" y="1240874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113E457-93AB-F912-08F6-66E3818DFB60}"/>
              </a:ext>
            </a:extLst>
          </p:cNvPr>
          <p:cNvSpPr/>
          <p:nvPr/>
        </p:nvSpPr>
        <p:spPr>
          <a:xfrm>
            <a:off x="914400" y="124087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1000" dirty="0" err="1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MeteoSwiss</a:t>
            </a:r>
            <a:r>
              <a:rPr lang="en-US" sz="10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 forecast at </a:t>
            </a:r>
            <a:r>
              <a:rPr lang="en-US" sz="1000" dirty="0" err="1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Gadmen</a:t>
            </a:r>
            <a:r>
              <a:rPr lang="en-US" sz="1000" dirty="0">
                <a:solidFill>
                  <a:srgbClr val="444441"/>
                </a:solidFill>
                <a:ea typeface="Calibri" pitchFamily="34" charset="-122"/>
                <a:cs typeface="Calibri" pitchFamily="34" charset="-120"/>
              </a:rPr>
              <a:t> – postpone if &gt;30% storm after 13:00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Microsoft Office PowerPoint</Application>
  <PresentationFormat>On-screen Show (16:9)</PresentationFormat>
  <Paragraphs>317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Triftbrücke from Zurich</dc:title>
  <dc:subject>PptxGenJS Presentation</dc:subject>
  <dc:creator>Pikelis Travel</dc:creator>
  <cp:lastModifiedBy>Paulius Pikelis</cp:lastModifiedBy>
  <cp:revision>5</cp:revision>
  <dcterms:created xsi:type="dcterms:W3CDTF">2026-04-19T11:47:22Z</dcterms:created>
  <dcterms:modified xsi:type="dcterms:W3CDTF">2026-04-19T16:43:24Z</dcterms:modified>
</cp:coreProperties>
</file>